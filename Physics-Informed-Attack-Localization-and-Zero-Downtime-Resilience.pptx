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Fraunces ExtraBold" pitchFamily="2" charset="77"/>
      <p:regular r:id="rId13"/>
    </p:embeddedFont>
    <p:embeddedFont>
      <p:font typeface="Nobile" panose="02000503050000020004" pitchFamily="2" charset="0"/>
      <p:regular r:id="rId14"/>
    </p:embeddedFont>
    <p:embeddedFont>
      <p:font typeface="Nobile Bold" panose="02000503050000020004" pitchFamily="2" charset="0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61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14999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AquaShield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81453"/>
            <a:ext cx="10868745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Physics-Informed Attack Localization &amp; Zero-Downtime Resilience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356682" y="50793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Critical Infrastructure Security · CPS Architecture · Real-Time Resilience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883888-F5A2-ECA6-FC56-5F8E9E50C0D2}"/>
              </a:ext>
            </a:extLst>
          </p:cNvPr>
          <p:cNvSpPr/>
          <p:nvPr/>
        </p:nvSpPr>
        <p:spPr>
          <a:xfrm>
            <a:off x="10811435" y="6207162"/>
            <a:ext cx="1380565" cy="650838"/>
          </a:xfrm>
          <a:prstGeom prst="rect">
            <a:avLst/>
          </a:prstGeom>
          <a:solidFill>
            <a:srgbClr val="FBFFFA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2441"/>
            <a:ext cx="1418197" cy="269180"/>
          </a:xfrm>
          <a:prstGeom prst="roundRect">
            <a:avLst>
              <a:gd name="adj" fmla="val 47399"/>
            </a:avLst>
          </a:prstGeom>
          <a:solidFill>
            <a:srgbClr val="DDEE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35" y="706140"/>
            <a:ext cx="141681" cy="141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0257" y="696040"/>
            <a:ext cx="1602740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99830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Cybersecurity Tools Are Flying Blind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661475" y="1930301"/>
            <a:ext cx="5783316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Conventional IDS solutions detect anomalies — but cannot pinpoint </a:t>
            </a:r>
            <a:r>
              <a:rPr lang="en-US" sz="13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which layer</a:t>
            </a: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of the CPS stack is under attack. The result: operators trigger emergency shutdowns based on guesswork, wasting hundreds of thousands of liters and burning out hardware.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755834" y="1780877"/>
            <a:ext cx="4908130" cy="2654796"/>
          </a:xfrm>
          <a:prstGeom prst="roundRect">
            <a:avLst>
              <a:gd name="adj" fmla="val 9612"/>
            </a:avLst>
          </a:prstGeom>
          <a:solidFill>
            <a:srgbClr val="438951"/>
          </a:solidFill>
          <a:ln/>
        </p:spPr>
      </p:sp>
      <p:sp>
        <p:nvSpPr>
          <p:cNvPr id="8" name="Text 5"/>
          <p:cNvSpPr/>
          <p:nvPr/>
        </p:nvSpPr>
        <p:spPr>
          <a:xfrm>
            <a:off x="6933034" y="1957122"/>
            <a:ext cx="455372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The Core Gap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33034" y="2389981"/>
            <a:ext cx="455372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Detection ≠ Localization. Without knowing </a:t>
            </a:r>
            <a:r>
              <a:rPr lang="en-US" sz="1350" i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where</a:t>
            </a:r>
            <a:r>
              <a:rPr lang="en-US" sz="13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the attack lives in the stack, every response is a gamble.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98835" y="3275509"/>
            <a:ext cx="4287929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Cybersecurity tools detect anomalies but cannot pinpoint root cause — causing false emergency shutdowns and water waste.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933034" y="3126085"/>
            <a:ext cx="19050" cy="1122759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22502"/>
            <a:ext cx="3512157" cy="159295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3923" y="4818757"/>
            <a:ext cx="3043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Anomaly Detected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33923" y="5195292"/>
            <a:ext cx="304345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System flags a deviation — but offers no causal explanation.</a:t>
            </a:r>
            <a:endParaRPr lang="en-US" sz="13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720" y="4622502"/>
            <a:ext cx="3512157" cy="15929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2167" y="4818757"/>
            <a:ext cx="3043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Operator Guesses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612167" y="5195292"/>
            <a:ext cx="3043459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Manual triage across 5 attack layers takes hours, not milliseconds.</a:t>
            </a:r>
            <a:endParaRPr lang="en-US" sz="13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7964" y="4622502"/>
            <a:ext cx="3512157" cy="159295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90412" y="4818757"/>
            <a:ext cx="3043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False Shutdown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290412" y="5195292"/>
            <a:ext cx="3043459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Emergency halt triggered — water dumped, service interrupted, hardware stressed.</a:t>
            </a:r>
            <a:endParaRPr lang="en-US" sz="13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732FBA-1EF1-7183-C2B5-FD8FA7F7927F}"/>
              </a:ext>
            </a:extLst>
          </p:cNvPr>
          <p:cNvSpPr/>
          <p:nvPr/>
        </p:nvSpPr>
        <p:spPr>
          <a:xfrm>
            <a:off x="10811435" y="6207162"/>
            <a:ext cx="1380565" cy="650838"/>
          </a:xfrm>
          <a:prstGeom prst="rect">
            <a:avLst/>
          </a:prstGeom>
          <a:solidFill>
            <a:srgbClr val="FBFFFA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0045" y="461566"/>
            <a:ext cx="1263321" cy="235446"/>
          </a:xfrm>
          <a:prstGeom prst="roundRect">
            <a:avLst>
              <a:gd name="adj" fmla="val 47394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33011" y="508000"/>
            <a:ext cx="1686974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ATTACK SURFACE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640045" y="778419"/>
            <a:ext cx="8911605" cy="48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The 5-Layer CPS Attack Surface</a:t>
            </a:r>
            <a:endParaRPr lang="en-US" sz="3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045" y="1475680"/>
            <a:ext cx="7997129" cy="44984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5253" y="6148487"/>
            <a:ext cx="9521190" cy="247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Each layer demands a </a:t>
            </a:r>
            <a:r>
              <a:rPr lang="en-US" sz="12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different detection mechanism</a:t>
            </a: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— a single IDS cannot cover all five simultaneously.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3CC760-2CF3-A248-CBF0-720D9C39C4EE}"/>
              </a:ext>
            </a:extLst>
          </p:cNvPr>
          <p:cNvSpPr/>
          <p:nvPr/>
        </p:nvSpPr>
        <p:spPr>
          <a:xfrm>
            <a:off x="10811435" y="6207162"/>
            <a:ext cx="1380565" cy="650838"/>
          </a:xfrm>
          <a:prstGeom prst="rect">
            <a:avLst/>
          </a:prstGeom>
          <a:solidFill>
            <a:srgbClr val="FBFFFA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0502"/>
            <a:ext cx="1516124" cy="273645"/>
          </a:xfrm>
          <a:prstGeom prst="roundRect">
            <a:avLst>
              <a:gd name="adj" fmla="val 47402"/>
            </a:avLst>
          </a:prstGeom>
          <a:solidFill>
            <a:srgbClr val="DDEE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21" y="585291"/>
            <a:ext cx="144062" cy="1440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5614" y="574477"/>
            <a:ext cx="169352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CURRENT COST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88397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The Cost of Guessing Wrong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61475" y="1773436"/>
            <a:ext cx="5327021" cy="594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4.5h</a:t>
            </a:r>
            <a:endParaRPr lang="en-US" sz="4650" dirty="0"/>
          </a:p>
        </p:txBody>
      </p:sp>
      <p:sp>
        <p:nvSpPr>
          <p:cNvPr id="7" name="Text 4"/>
          <p:cNvSpPr/>
          <p:nvPr/>
        </p:nvSpPr>
        <p:spPr>
          <a:xfrm>
            <a:off x="661475" y="2586732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Attack Isolation Time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61475" y="2971205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Manual triage across layers under legacy IDS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03100" y="1773436"/>
            <a:ext cx="5327120" cy="594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100%</a:t>
            </a:r>
            <a:endParaRPr lang="en-US" sz="4650" dirty="0"/>
          </a:p>
        </p:txBody>
      </p:sp>
      <p:sp>
        <p:nvSpPr>
          <p:cNvPr id="10" name="Text 7"/>
          <p:cNvSpPr/>
          <p:nvPr/>
        </p:nvSpPr>
        <p:spPr>
          <a:xfrm>
            <a:off x="6203100" y="2586732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False Emergency Rate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03100" y="2971205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Every anomaly triggers an unverified shutdown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1475" y="3686076"/>
            <a:ext cx="5327021" cy="594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100Ks</a:t>
            </a:r>
            <a:endParaRPr lang="en-US" sz="4650" dirty="0"/>
          </a:p>
        </p:txBody>
      </p:sp>
      <p:sp>
        <p:nvSpPr>
          <p:cNvPr id="13" name="Text 10"/>
          <p:cNvSpPr/>
          <p:nvPr/>
        </p:nvSpPr>
        <p:spPr>
          <a:xfrm>
            <a:off x="661475" y="4499372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Liters Dumped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61475" y="4883845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Per incident — hundreds of thousands wasted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03100" y="3686076"/>
            <a:ext cx="5327120" cy="594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$0</a:t>
            </a:r>
            <a:endParaRPr lang="en-US" sz="4650" dirty="0"/>
          </a:p>
        </p:txBody>
      </p:sp>
      <p:sp>
        <p:nvSpPr>
          <p:cNvPr id="16" name="Text 13"/>
          <p:cNvSpPr/>
          <p:nvPr/>
        </p:nvSpPr>
        <p:spPr>
          <a:xfrm>
            <a:off x="6203051" y="4499372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Surgical Precision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203100" y="4883845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Legacy IDS offers zero root-cause localization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61475" y="5358507"/>
            <a:ext cx="10868745" cy="978991"/>
          </a:xfrm>
          <a:prstGeom prst="roundRect">
            <a:avLst>
              <a:gd name="adj" fmla="val 16562"/>
            </a:avLst>
          </a:prstGeom>
          <a:solidFill>
            <a:srgbClr val="FFB3B4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52" y="5601593"/>
            <a:ext cx="225122" cy="18008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46752" y="5575102"/>
            <a:ext cx="1010339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Hardware burnout and service interruption compound every false shutdown — the operational damage extends far beyond water loss.</a:t>
            </a:r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185FAB-5F2B-1437-D1FA-545AE913078A}"/>
              </a:ext>
            </a:extLst>
          </p:cNvPr>
          <p:cNvSpPr/>
          <p:nvPr/>
        </p:nvSpPr>
        <p:spPr>
          <a:xfrm>
            <a:off x="10908254" y="6412012"/>
            <a:ext cx="1283746" cy="445988"/>
          </a:xfrm>
          <a:prstGeom prst="rect">
            <a:avLst/>
          </a:prstGeom>
          <a:solidFill>
            <a:srgbClr val="FBFFFA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1975"/>
            <a:ext cx="1495288" cy="273645"/>
          </a:xfrm>
          <a:prstGeom prst="roundRect">
            <a:avLst>
              <a:gd name="adj" fmla="val 47402"/>
            </a:avLst>
          </a:prstGeom>
          <a:solidFill>
            <a:srgbClr val="DDEE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21" y="626765"/>
            <a:ext cx="144062" cy="1440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5614" y="615950"/>
            <a:ext cx="1672687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925452"/>
            <a:ext cx="10868745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AquaShield: Surgical Localization at Physics Speed</a:t>
            </a:r>
            <a:endParaRPr lang="en-US" sz="3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147417"/>
            <a:ext cx="5214609" cy="22890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46111" y="4783369"/>
            <a:ext cx="914051" cy="14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Digital Twin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546111" y="4964803"/>
            <a:ext cx="914051" cy="22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Monitors live sensor data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4112484" y="4496623"/>
            <a:ext cx="914051" cy="28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Quarantine &amp; Estimator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112484" y="4819311"/>
            <a:ext cx="914051" cy="331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Isolate node; virtual estimator substitutes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2836831" y="3387461"/>
            <a:ext cx="914051" cy="14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ODE Solver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836831" y="3568895"/>
            <a:ext cx="914051" cy="331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Detects physics violation under 40ms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6321961" y="2471807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The Core Principle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321961" y="2912765"/>
            <a:ext cx="5214609" cy="212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AquaShield deploys a </a:t>
            </a:r>
            <a:r>
              <a:rPr lang="en-US" sz="14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physics-informed digital twin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that continuously validates every sensor reading against fundamental physical laws — Mass Balance, Bernoulli's Equation — in real time.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When data violates physics, the attack is not just </a:t>
            </a:r>
            <a:r>
              <a:rPr lang="en-US" sz="14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detected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— it is </a:t>
            </a:r>
            <a:r>
              <a:rPr lang="en-US" sz="14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surgically localized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to the exact CPS layer, and the system self-heals without stopping operations.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92127" y="5385296"/>
            <a:ext cx="494444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Physics-informed digital twin that surgically localizes attacks and self-heals without stopping operations.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321961" y="5230813"/>
            <a:ext cx="25399" cy="871934"/>
          </a:xfrm>
          <a:prstGeom prst="roundRect">
            <a:avLst>
              <a:gd name="adj" fmla="val 50001"/>
            </a:avLst>
          </a:prstGeom>
          <a:solidFill>
            <a:srgbClr val="438951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34E26A-C93C-3B76-534A-213697BD1AAD}"/>
              </a:ext>
            </a:extLst>
          </p:cNvPr>
          <p:cNvSpPr/>
          <p:nvPr/>
        </p:nvSpPr>
        <p:spPr>
          <a:xfrm>
            <a:off x="10811435" y="6207162"/>
            <a:ext cx="1380565" cy="650838"/>
          </a:xfrm>
          <a:prstGeom prst="rect">
            <a:avLst/>
          </a:prstGeom>
          <a:solidFill>
            <a:srgbClr val="FBFFFA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935"/>
            <a:ext cx="1055959" cy="215305"/>
          </a:xfrm>
          <a:prstGeom prst="roundRect">
            <a:avLst>
              <a:gd name="adj" fmla="val 47407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579834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571401"/>
            <a:ext cx="132543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MECHANISM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80612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Physics-Informed Cross-Validation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508720"/>
            <a:ext cx="4700668" cy="47007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4361" y="2486521"/>
            <a:ext cx="318881" cy="318889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</p:sp>
      <p:sp>
        <p:nvSpPr>
          <p:cNvPr id="8" name="Text 4"/>
          <p:cNvSpPr/>
          <p:nvPr/>
        </p:nvSpPr>
        <p:spPr>
          <a:xfrm>
            <a:off x="5767491" y="2513062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1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139503" y="2535238"/>
            <a:ext cx="53969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Real-Time ODE Solver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139503" y="2862957"/>
            <a:ext cx="539696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Continuously validates live sensor data against Mass Balance and Bernoulli's Law — every reading, every millisecond.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714361" y="3472458"/>
            <a:ext cx="318881" cy="318889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</p:sp>
      <p:sp>
        <p:nvSpPr>
          <p:cNvPr id="12" name="Text 8"/>
          <p:cNvSpPr/>
          <p:nvPr/>
        </p:nvSpPr>
        <p:spPr>
          <a:xfrm>
            <a:off x="5767491" y="349899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2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139503" y="3521174"/>
            <a:ext cx="53969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Physics Violation → Instant Isolation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139503" y="3848894"/>
            <a:ext cx="539696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When sensor data contradicts physical laws, the attack is isolated in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&lt;40ms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— no human triage required.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714361" y="4458395"/>
            <a:ext cx="318881" cy="318889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</p:sp>
      <p:sp>
        <p:nvSpPr>
          <p:cNvPr id="16" name="Text 12"/>
          <p:cNvSpPr/>
          <p:nvPr/>
        </p:nvSpPr>
        <p:spPr>
          <a:xfrm>
            <a:off x="5767491" y="4484936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3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6139503" y="4507111"/>
            <a:ext cx="53969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Quarantine &amp; Virtual Substitution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139503" y="4834830"/>
            <a:ext cx="539696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Compromised node is quarantined; a virtual estimator seamlessly substitutes — operations continue uninterrupted.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7A0AAD-C88F-A06B-7251-0EBA49278942}"/>
              </a:ext>
            </a:extLst>
          </p:cNvPr>
          <p:cNvSpPr/>
          <p:nvPr/>
        </p:nvSpPr>
        <p:spPr>
          <a:xfrm>
            <a:off x="10811435" y="6207162"/>
            <a:ext cx="1380565" cy="650838"/>
          </a:xfrm>
          <a:prstGeom prst="rect">
            <a:avLst/>
          </a:prstGeom>
          <a:solidFill>
            <a:srgbClr val="FBFFFA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820"/>
            <a:ext cx="1578928" cy="224334"/>
          </a:xfrm>
          <a:prstGeom prst="roundRect">
            <a:avLst>
              <a:gd name="adj" fmla="val 4739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50075" y="575821"/>
            <a:ext cx="2011312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5-LAYER LOCALIZATION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19270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Surgical Precision Across Every Layer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35795"/>
            <a:ext cx="10868745" cy="886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5067" y="1740396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86448" y="1602482"/>
            <a:ext cx="9977089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Sensor Spoofing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86448" y="1902321"/>
            <a:ext cx="997708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Detected via </a:t>
            </a: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physics violation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— falsified readings contradict ODE solver output instantly.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37110"/>
            <a:ext cx="10868745" cy="8860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5067" y="2741712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386448" y="2603798"/>
            <a:ext cx="9977089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Network Replay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86448" y="2903637"/>
            <a:ext cx="997708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Caught by </a:t>
            </a: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cryptographic audit trail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— replayed Modbus/SCADA packets fail timestamp verification.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38426"/>
            <a:ext cx="10868745" cy="8860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5067" y="3743027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3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386448" y="3605113"/>
            <a:ext cx="9977089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PLC Compromise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86448" y="3904952"/>
            <a:ext cx="997708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Verified via </a:t>
            </a: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immutable control logs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— unauthorized logic changes surface against signed baselines.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39741"/>
            <a:ext cx="10868745" cy="8860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5067" y="4744343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4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386448" y="4606429"/>
            <a:ext cx="9977089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Firmware Rootkit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386448" y="4906268"/>
            <a:ext cx="997708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Detected via </a:t>
            </a: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control-flow anomaly analysis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— persistent implants deviate from verified execution paths.</a:t>
            </a:r>
            <a:endParaRPr lang="en-US" sz="11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41057"/>
            <a:ext cx="10868745" cy="88602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5067" y="5745659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5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1386448" y="5607745"/>
            <a:ext cx="9977089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Actuator Tampering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386448" y="5907584"/>
            <a:ext cx="997708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Isolated via </a:t>
            </a: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0"/>
              </a:rPr>
              <a:t>state mismatch detection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 — commanded vs. observed actuator state divergence triggers alert.</a:t>
            </a:r>
            <a:endParaRPr lang="en-US" sz="11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3341D4-6212-BA3B-2979-6B36A8569AFC}"/>
              </a:ext>
            </a:extLst>
          </p:cNvPr>
          <p:cNvSpPr/>
          <p:nvPr/>
        </p:nvSpPr>
        <p:spPr>
          <a:xfrm>
            <a:off x="10811435" y="6442372"/>
            <a:ext cx="1380565" cy="415627"/>
          </a:xfrm>
          <a:prstGeom prst="rect">
            <a:avLst/>
          </a:prstGeom>
          <a:solidFill>
            <a:srgbClr val="FBFFFA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9805"/>
            <a:ext cx="1135729" cy="255786"/>
          </a:xfrm>
          <a:prstGeom prst="roundRect">
            <a:avLst>
              <a:gd name="adj" fmla="val 47387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77" y="720328"/>
            <a:ext cx="134636" cy="1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382" y="710307"/>
            <a:ext cx="1341404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LIVE DEMO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996396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Live Interactive Demo</a:t>
            </a:r>
            <a:endParaRPr lang="en-US" sz="3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95078"/>
            <a:ext cx="420776" cy="4207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9571" y="1895078"/>
            <a:ext cx="462089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Animated SCADA Digital Twin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269571" y="2308027"/>
            <a:ext cx="462089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Real-time fluid dynamics visualization — watch pressure, flow, and tank levels respond live to attack injection.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17056"/>
            <a:ext cx="420776" cy="4207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69571" y="3117056"/>
            <a:ext cx="462089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Dynamic Causal Laser Tracing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269571" y="3530005"/>
            <a:ext cx="462089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Visual beam locks onto the compromised node the instant physics violation is detected — sub-40ms.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39034"/>
            <a:ext cx="420776" cy="4207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69571" y="4339034"/>
            <a:ext cx="462089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Chaos Injection Studio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269571" y="4751983"/>
            <a:ext cx="462089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1-click attack injection: Sensor Spoofing, Modbus Replay, Stuxnet Rootkit — watch AquaShield respond in real time.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186333" y="1726406"/>
            <a:ext cx="5471480" cy="3703439"/>
          </a:xfrm>
          <a:prstGeom prst="roundRect">
            <a:avLst>
              <a:gd name="adj" fmla="val 6546"/>
            </a:avLst>
          </a:prstGeom>
          <a:solidFill>
            <a:srgbClr val="4A644E"/>
          </a:solidFill>
          <a:ln/>
        </p:spPr>
      </p:sp>
      <p:sp>
        <p:nvSpPr>
          <p:cNvPr id="16" name="Text 10"/>
          <p:cNvSpPr/>
          <p:nvPr/>
        </p:nvSpPr>
        <p:spPr>
          <a:xfrm>
            <a:off x="6354604" y="1886765"/>
            <a:ext cx="513493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Attack Scenarios Available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354604" y="2289274"/>
            <a:ext cx="513493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Each scenario demonstrates full localization, quarantine, and self-healing — with zero operational downtime.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61475" y="5598517"/>
            <a:ext cx="3522971" cy="599579"/>
          </a:xfrm>
          <a:prstGeom prst="roundRect">
            <a:avLst>
              <a:gd name="adj" fmla="val 25269"/>
            </a:avLst>
          </a:prstGeom>
          <a:solidFill>
            <a:srgbClr val="E8F3E8"/>
          </a:solidFill>
          <a:ln/>
        </p:spPr>
      </p:sp>
      <p:sp>
        <p:nvSpPr>
          <p:cNvPr id="19" name="Text 13"/>
          <p:cNvSpPr/>
          <p:nvPr/>
        </p:nvSpPr>
        <p:spPr>
          <a:xfrm>
            <a:off x="829746" y="5766792"/>
            <a:ext cx="31864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🎯</a:t>
            </a: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 Sensor Spoofing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4334362" y="5598517"/>
            <a:ext cx="3522971" cy="599579"/>
          </a:xfrm>
          <a:prstGeom prst="roundRect">
            <a:avLst>
              <a:gd name="adj" fmla="val 25269"/>
            </a:avLst>
          </a:prstGeom>
          <a:solidFill>
            <a:srgbClr val="E8F3E8"/>
          </a:solidFill>
          <a:ln/>
        </p:spPr>
      </p:sp>
      <p:sp>
        <p:nvSpPr>
          <p:cNvPr id="21" name="Text 15"/>
          <p:cNvSpPr/>
          <p:nvPr/>
        </p:nvSpPr>
        <p:spPr>
          <a:xfrm>
            <a:off x="4502633" y="5766792"/>
            <a:ext cx="31864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🔁</a:t>
            </a: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 Modbus Replay</a:t>
            </a:r>
            <a:endParaRPr lang="en-US" sz="1650" dirty="0"/>
          </a:p>
        </p:txBody>
      </p:sp>
      <p:sp>
        <p:nvSpPr>
          <p:cNvPr id="22" name="Shape 16"/>
          <p:cNvSpPr/>
          <p:nvPr/>
        </p:nvSpPr>
        <p:spPr>
          <a:xfrm>
            <a:off x="8007249" y="5598517"/>
            <a:ext cx="3522971" cy="599579"/>
          </a:xfrm>
          <a:prstGeom prst="roundRect">
            <a:avLst>
              <a:gd name="adj" fmla="val 25269"/>
            </a:avLst>
          </a:prstGeom>
          <a:solidFill>
            <a:srgbClr val="E8F3E8"/>
          </a:solidFill>
          <a:ln/>
        </p:spPr>
      </p:sp>
      <p:sp>
        <p:nvSpPr>
          <p:cNvPr id="23" name="Text 17"/>
          <p:cNvSpPr/>
          <p:nvPr/>
        </p:nvSpPr>
        <p:spPr>
          <a:xfrm>
            <a:off x="8175520" y="5766792"/>
            <a:ext cx="31864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☣️</a:t>
            </a: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 Stuxnet Rootkit</a:t>
            </a:r>
            <a:endParaRPr lang="en-US" sz="16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B9A3C3-FFF7-DF73-E760-97C91E929FC8}"/>
              </a:ext>
            </a:extLst>
          </p:cNvPr>
          <p:cNvSpPr/>
          <p:nvPr/>
        </p:nvSpPr>
        <p:spPr>
          <a:xfrm>
            <a:off x="10660829" y="6366370"/>
            <a:ext cx="1531172" cy="491629"/>
          </a:xfrm>
          <a:prstGeom prst="rect">
            <a:avLst/>
          </a:prstGeom>
          <a:solidFill>
            <a:srgbClr val="FBFFFA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1605"/>
            <a:ext cx="946523" cy="260152"/>
          </a:xfrm>
          <a:prstGeom prst="roundRect">
            <a:avLst>
              <a:gd name="adj" fmla="val 47409"/>
            </a:avLst>
          </a:prstGeom>
          <a:solidFill>
            <a:srgbClr val="DDEE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64" y="683121"/>
            <a:ext cx="137018" cy="137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641" y="672902"/>
            <a:ext cx="1145253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IMPACT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965514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AquaShield vs. Legacy IDS</a:t>
            </a:r>
            <a:endParaRPr lang="en-US" sz="3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886446"/>
            <a:ext cx="6354008" cy="41752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39732" y="1886446"/>
            <a:ext cx="4096739" cy="4106069"/>
          </a:xfrm>
          <a:prstGeom prst="roundRect">
            <a:avLst>
              <a:gd name="adj" fmla="val 3763"/>
            </a:avLst>
          </a:prstGeom>
          <a:solidFill>
            <a:srgbClr val="E8F3E8"/>
          </a:solidFill>
          <a:ln/>
        </p:spPr>
      </p:sp>
      <p:sp>
        <p:nvSpPr>
          <p:cNvPr id="8" name="Shape 4"/>
          <p:cNvSpPr/>
          <p:nvPr/>
        </p:nvSpPr>
        <p:spPr>
          <a:xfrm>
            <a:off x="7439732" y="1886446"/>
            <a:ext cx="4096739" cy="1026517"/>
          </a:xfrm>
          <a:custGeom>
            <a:avLst/>
            <a:gdLst/>
            <a:ahLst/>
            <a:cxnLst/>
            <a:rect l="l" t="t" r="r" b="b"/>
            <a:pathLst>
              <a:path w="4096739" h="1026517">
                <a:moveTo>
                  <a:pt x="128474" y="0"/>
                </a:moveTo>
                <a:lnTo>
                  <a:pt x="3968265" y="0"/>
                </a:lnTo>
                <a:arcTo wR="128474" hR="128477" stAng="16200000" swAng="5400000"/>
                <a:lnTo>
                  <a:pt x="4096739" y="1026517"/>
                </a:lnTo>
                <a:lnTo>
                  <a:pt x="0" y="1026517"/>
                </a:lnTo>
                <a:lnTo>
                  <a:pt x="0" y="128477"/>
                </a:lnTo>
                <a:arcTo wR="128474" hR="128477" stAng="10800000" swAng="5400000"/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9" name="Text 5"/>
          <p:cNvSpPr/>
          <p:nvPr/>
        </p:nvSpPr>
        <p:spPr>
          <a:xfrm>
            <a:off x="7610979" y="2057698"/>
            <a:ext cx="375424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FEEE2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38ms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610979" y="2480469"/>
            <a:ext cx="37542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Attack localization — vs. 4.5 hours legacy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439732" y="2912963"/>
            <a:ext cx="4096739" cy="1026517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2" name="Shape 8"/>
          <p:cNvSpPr/>
          <p:nvPr/>
        </p:nvSpPr>
        <p:spPr>
          <a:xfrm>
            <a:off x="7439732" y="2912963"/>
            <a:ext cx="4096739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3" name="Text 9"/>
          <p:cNvSpPr/>
          <p:nvPr/>
        </p:nvSpPr>
        <p:spPr>
          <a:xfrm>
            <a:off x="7610979" y="3084215"/>
            <a:ext cx="375424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FEEE2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0%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610979" y="3506986"/>
            <a:ext cx="37542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False emergency rate — 100% prevention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439732" y="3939480"/>
            <a:ext cx="4096739" cy="1026517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6" name="Shape 12"/>
          <p:cNvSpPr/>
          <p:nvPr/>
        </p:nvSpPr>
        <p:spPr>
          <a:xfrm>
            <a:off x="7439732" y="3939480"/>
            <a:ext cx="4096739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7" name="Text 13"/>
          <p:cNvSpPr/>
          <p:nvPr/>
        </p:nvSpPr>
        <p:spPr>
          <a:xfrm>
            <a:off x="7610979" y="4110732"/>
            <a:ext cx="375424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FEEE2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Zero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7610979" y="4533503"/>
            <a:ext cx="37542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Downtime — vs. repeated service interruption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439732" y="4965998"/>
            <a:ext cx="4096739" cy="1026517"/>
          </a:xfrm>
          <a:custGeom>
            <a:avLst/>
            <a:gdLst/>
            <a:ahLst/>
            <a:cxnLst/>
            <a:rect l="l" t="t" r="r" b="b"/>
            <a:pathLst>
              <a:path w="4096739" h="1026517">
                <a:moveTo>
                  <a:pt x="0" y="0"/>
                </a:moveTo>
                <a:lnTo>
                  <a:pt x="4096739" y="0"/>
                </a:lnTo>
                <a:lnTo>
                  <a:pt x="4096739" y="898040"/>
                </a:lnTo>
                <a:arcTo wR="128474" hR="128477" stAng="0" swAng="5400000"/>
                <a:lnTo>
                  <a:pt x="128474" y="1026517"/>
                </a:lnTo>
                <a:arcTo wR="128474" hR="128477" stAng="5400000" swAng="5400000"/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20" name="Shape 16"/>
          <p:cNvSpPr/>
          <p:nvPr/>
        </p:nvSpPr>
        <p:spPr>
          <a:xfrm>
            <a:off x="7439732" y="4965998"/>
            <a:ext cx="4096739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21" name="Text 17"/>
          <p:cNvSpPr/>
          <p:nvPr/>
        </p:nvSpPr>
        <p:spPr>
          <a:xfrm>
            <a:off x="7610979" y="5137249"/>
            <a:ext cx="375424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FEEE2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100%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7610979" y="5560020"/>
            <a:ext cx="37542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Water saved — zero liters dumped per incident</a:t>
            </a:r>
            <a:endParaRPr lang="en-US" sz="13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1EB0AB-E4D5-3F38-1C34-98E442000D22}"/>
              </a:ext>
            </a:extLst>
          </p:cNvPr>
          <p:cNvSpPr/>
          <p:nvPr/>
        </p:nvSpPr>
        <p:spPr>
          <a:xfrm>
            <a:off x="10811435" y="6207162"/>
            <a:ext cx="1380565" cy="650838"/>
          </a:xfrm>
          <a:prstGeom prst="rect">
            <a:avLst/>
          </a:prstGeom>
          <a:solidFill>
            <a:srgbClr val="FBFFFA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92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Securing Critical Infrastructure at Physics Speed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25" y="1336239"/>
            <a:ext cx="10868745" cy="73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650" dirty="0">
                <a:solidFill>
                  <a:srgbClr val="438951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38ms. Zero Downtime. Clean Water.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661475" y="232241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942828"/>
            <a:ext cx="251572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Sub-40ms Localization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3365599"/>
            <a:ext cx="2515728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Physics-informed ODE cross-validation isolates attacks faster than any human operator can respond.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71170" y="2942828"/>
            <a:ext cx="2515728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Zero-Downtime Self-Healing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371170" y="3633192"/>
            <a:ext cx="2515728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Virtual estimator substitution keeps operations running — no shutdown, no water waste, no hardware stress.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5197971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UN SDG 6 &amp; 9 Aligned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1475" y="5620742"/>
            <a:ext cx="522542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Uninterrupted clean drinking water and resilient critical energy infrastructure — at scale.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7821" y="2558852"/>
            <a:ext cx="5472075" cy="3759002"/>
          </a:xfrm>
          <a:prstGeom prst="roundRect">
            <a:avLst>
              <a:gd name="adj" fmla="val 6562"/>
            </a:avLst>
          </a:prstGeom>
          <a:solidFill>
            <a:srgbClr val="438951"/>
          </a:solidFill>
          <a:ln/>
        </p:spPr>
      </p:sp>
      <p:sp>
        <p:nvSpPr>
          <p:cNvPr id="12" name="Text 10"/>
          <p:cNvSpPr/>
          <p:nvPr/>
        </p:nvSpPr>
        <p:spPr>
          <a:xfrm>
            <a:off x="6359068" y="2723315"/>
            <a:ext cx="51295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0"/>
              </a:rPr>
              <a:t>The AquaShield Promise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15939" y="3295948"/>
            <a:ext cx="4872709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Sub-40ms localization + zero-downtime self-healing = uninterrupted clean drinking water and resilient energy systems.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9068" y="3156248"/>
            <a:ext cx="19050" cy="1063129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  <p:sp>
        <p:nvSpPr>
          <p:cNvPr id="15" name="Text 13"/>
          <p:cNvSpPr/>
          <p:nvPr/>
        </p:nvSpPr>
        <p:spPr>
          <a:xfrm>
            <a:off x="6359068" y="4394002"/>
            <a:ext cx="512958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Physics is the ultimate ground truth. AquaShield makes it the foundation of critical infrastructure defense.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9068" y="5091113"/>
            <a:ext cx="2194862" cy="260152"/>
          </a:xfrm>
          <a:prstGeom prst="roundRect">
            <a:avLst>
              <a:gd name="adj" fmla="val 47409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57" y="5152628"/>
            <a:ext cx="137018" cy="13702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667234" y="5142409"/>
            <a:ext cx="2393592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PHYSICS-SPEED SECURITY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639554" y="5091113"/>
            <a:ext cx="810696" cy="260152"/>
          </a:xfrm>
          <a:prstGeom prst="roundRect">
            <a:avLst>
              <a:gd name="adj" fmla="val 47409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2243" y="5152628"/>
            <a:ext cx="137018" cy="13702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947720" y="5142409"/>
            <a:ext cx="1009426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SDG 6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9535874" y="5091113"/>
            <a:ext cx="810994" cy="260152"/>
          </a:xfrm>
          <a:prstGeom prst="roundRect">
            <a:avLst>
              <a:gd name="adj" fmla="val 47409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8563" y="5152628"/>
            <a:ext cx="137018" cy="13702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844040" y="5142409"/>
            <a:ext cx="1009724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0"/>
              </a:rPr>
              <a:t>SDG 9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2425" y="2733477"/>
            <a:ext cx="2553827" cy="381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6" name="Shape 21"/>
          <p:cNvSpPr/>
          <p:nvPr/>
        </p:nvSpPr>
        <p:spPr>
          <a:xfrm>
            <a:off x="3352121" y="2733477"/>
            <a:ext cx="2553827" cy="381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7" name="Shape 22"/>
          <p:cNvSpPr/>
          <p:nvPr/>
        </p:nvSpPr>
        <p:spPr>
          <a:xfrm>
            <a:off x="642425" y="4988620"/>
            <a:ext cx="5263522" cy="381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9DEE1F-2F67-747F-1E04-A73FF58A5926}"/>
              </a:ext>
            </a:extLst>
          </p:cNvPr>
          <p:cNvSpPr/>
          <p:nvPr/>
        </p:nvSpPr>
        <p:spPr>
          <a:xfrm>
            <a:off x="10725375" y="6482316"/>
            <a:ext cx="1466626" cy="375683"/>
          </a:xfrm>
          <a:prstGeom prst="rect">
            <a:avLst/>
          </a:prstGeom>
          <a:solidFill>
            <a:srgbClr val="FBFFFA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768</Words>
  <Application>Microsoft Macintosh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Nobile Bold</vt:lpstr>
      <vt:lpstr>Noto Color Emoji</vt:lpstr>
      <vt:lpstr>Fraunces ExtraBold</vt:lpstr>
      <vt:lpstr>Arial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 SABARISH MANIKANDAN</cp:lastModifiedBy>
  <cp:revision>3</cp:revision>
  <dcterms:created xsi:type="dcterms:W3CDTF">2026-10-26T05:40:30Z</dcterms:created>
  <dcterms:modified xsi:type="dcterms:W3CDTF">2026-10-26T05:49:16Z</dcterms:modified>
</cp:coreProperties>
</file>